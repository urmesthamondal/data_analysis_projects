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1" r:id="rId12"/>
    <p:sldId id="270" r:id="rId13"/>
    <p:sldId id="273" r:id="rId14"/>
    <p:sldId id="274" r:id="rId15"/>
    <p:sldId id="27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96712-27E6-4461-B8E7-661A8E593E8B}" v="3" dt="2025-06-17T05:32:37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RMESTHA MONDAL" userId="261be9e8f3f4b8dd" providerId="LiveId" clId="{84496712-27E6-4461-B8E7-661A8E593E8B}"/>
    <pc:docChg chg="undo custSel modSld">
      <pc:chgData name="URMESTHA MONDAL" userId="261be9e8f3f4b8dd" providerId="LiveId" clId="{84496712-27E6-4461-B8E7-661A8E593E8B}" dt="2025-06-17T05:37:42.053" v="48" actId="404"/>
      <pc:docMkLst>
        <pc:docMk/>
      </pc:docMkLst>
      <pc:sldChg chg="modSp mod">
        <pc:chgData name="URMESTHA MONDAL" userId="261be9e8f3f4b8dd" providerId="LiveId" clId="{84496712-27E6-4461-B8E7-661A8E593E8B}" dt="2025-06-17T05:34:08.759" v="40" actId="14100"/>
        <pc:sldMkLst>
          <pc:docMk/>
          <pc:sldMk cId="0" sldId="263"/>
        </pc:sldMkLst>
        <pc:spChg chg="mod">
          <ac:chgData name="URMESTHA MONDAL" userId="261be9e8f3f4b8dd" providerId="LiveId" clId="{84496712-27E6-4461-B8E7-661A8E593E8B}" dt="2025-06-17T05:33:19.413" v="3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URMESTHA MONDAL" userId="261be9e8f3f4b8dd" providerId="LiveId" clId="{84496712-27E6-4461-B8E7-661A8E593E8B}" dt="2025-06-17T05:33:43.085" v="36" actId="20577"/>
          <ac:spMkLst>
            <pc:docMk/>
            <pc:sldMk cId="0" sldId="263"/>
            <ac:spMk id="3" creationId="{00000000-0000-0000-0000-000000000000}"/>
          </ac:spMkLst>
        </pc:spChg>
        <pc:picChg chg="mod">
          <ac:chgData name="URMESTHA MONDAL" userId="261be9e8f3f4b8dd" providerId="LiveId" clId="{84496712-27E6-4461-B8E7-661A8E593E8B}" dt="2025-06-17T05:34:03.762" v="39" actId="14100"/>
          <ac:picMkLst>
            <pc:docMk/>
            <pc:sldMk cId="0" sldId="263"/>
            <ac:picMk id="4" creationId="{00000000-0000-0000-0000-000000000000}"/>
          </ac:picMkLst>
        </pc:picChg>
        <pc:picChg chg="mod">
          <ac:chgData name="URMESTHA MONDAL" userId="261be9e8f3f4b8dd" providerId="LiveId" clId="{84496712-27E6-4461-B8E7-661A8E593E8B}" dt="2025-06-17T05:34:08.759" v="40" actId="14100"/>
          <ac:picMkLst>
            <pc:docMk/>
            <pc:sldMk cId="0" sldId="263"/>
            <ac:picMk id="6" creationId="{00000000-0000-0000-0000-000000000000}"/>
          </ac:picMkLst>
        </pc:picChg>
      </pc:sldChg>
      <pc:sldChg chg="modSp mod">
        <pc:chgData name="URMESTHA MONDAL" userId="261be9e8f3f4b8dd" providerId="LiveId" clId="{84496712-27E6-4461-B8E7-661A8E593E8B}" dt="2025-06-17T05:37:42.053" v="48" actId="404"/>
        <pc:sldMkLst>
          <pc:docMk/>
          <pc:sldMk cId="0" sldId="267"/>
        </pc:sldMkLst>
        <pc:spChg chg="mod">
          <ac:chgData name="URMESTHA MONDAL" userId="261be9e8f3f4b8dd" providerId="LiveId" clId="{84496712-27E6-4461-B8E7-661A8E593E8B}" dt="2025-06-17T05:32:24.608" v="25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URMESTHA MONDAL" userId="261be9e8f3f4b8dd" providerId="LiveId" clId="{84496712-27E6-4461-B8E7-661A8E593E8B}" dt="2025-06-17T05:37:42.053" v="48" actId="404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C4E30-92B9-4F06-9A95-524AF835C5CB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57BD5C-071E-4542-8283-29860F77A0F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7BD5C-071E-4542-8283-29860F77A0F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7BD5C-071E-4542-8283-29860F77A0F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57BD5C-071E-4542-8283-29860F77A0F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45181171-EE13-4A2C-8EBC-6E01D89DA3DE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3D76ABB3-6B2F-4289-8A68-D24A0A0CC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357166"/>
            <a:ext cx="8458200" cy="2214578"/>
          </a:xfr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/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en-US" dirty="0">
                <a:latin typeface="Algerian" pitchFamily="82" charset="0"/>
              </a:rPr>
              <a:t>House Price Prediction:</a:t>
            </a:r>
            <a:br>
              <a:rPr lang="en-US" dirty="0">
                <a:latin typeface="Algerian" pitchFamily="82" charset="0"/>
              </a:rPr>
            </a:br>
            <a:r>
              <a:rPr lang="en-US" dirty="0">
                <a:latin typeface="Algerian" pitchFamily="82" charset="0"/>
              </a:rPr>
              <a:t>An End-to-End Machine Learning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828" y="4143380"/>
            <a:ext cx="6715172" cy="642942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b="1" dirty="0">
                <a:latin typeface="Bahnschrift" pitchFamily="34" charset="0"/>
              </a:rPr>
              <a:t>Leveraging data science for accurate property 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714356"/>
            <a:ext cx="8786874" cy="857256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>
                <a:latin typeface="Berlin Sans FB Demi" pitchFamily="34" charset="0"/>
              </a:rPr>
              <a:t> 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714488"/>
            <a:ext cx="5214974" cy="4929222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Bahnschrift" pitchFamily="34" charset="0"/>
              </a:rPr>
              <a:t>Introduction &amp; Problem Statement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Bahnschrift" pitchFamily="34" charset="0"/>
              </a:rPr>
              <a:t>Data Loading &amp; Initial Exploration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Bahnschrift" pitchFamily="34" charset="0"/>
              </a:rPr>
              <a:t>Exploratory Data Analysis (EDA)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Bahnschrift" pitchFamily="34" charset="0"/>
              </a:rPr>
              <a:t>Data Preprocessing &amp; Feature Engineering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Bahnschrift" pitchFamily="34" charset="0"/>
              </a:rPr>
              <a:t>Model Training &amp; Selection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Bahnschrift" pitchFamily="34" charset="0"/>
              </a:rPr>
              <a:t>Model Evaluation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q"/>
            </a:pPr>
            <a:r>
              <a:rPr lang="en-US" dirty="0">
                <a:latin typeface="Bahnschrift" pitchFamily="34" charset="0"/>
              </a:rPr>
              <a:t>Conclusion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Char char="q"/>
            </a:pPr>
            <a:endParaRPr lang="en-US" dirty="0">
              <a:latin typeface="Bahnschrift" pitchFamily="34" charset="0"/>
            </a:endParaRPr>
          </a:p>
        </p:txBody>
      </p:sp>
      <p:pic>
        <p:nvPicPr>
          <p:cNvPr id="5" name="Picture 4" descr="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702" y="785794"/>
            <a:ext cx="2214578" cy="7143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  <p:transition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714356"/>
            <a:ext cx="7000892" cy="1000132"/>
          </a:xfr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dirty="0">
                <a:latin typeface="Arial Rounded MT Bold" pitchFamily="34" charset="0"/>
              </a:rP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857364"/>
            <a:ext cx="8229600" cy="457203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The dataset contains detailed information about each house,including physical  attributes and</a:t>
            </a:r>
          </a:p>
          <a:p>
            <a:pPr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location-based features,with 79 explanatory variables describing (almost) every aspect of residential</a:t>
            </a:r>
          </a:p>
          <a:p>
            <a:pPr>
              <a:buNone/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homes in Ames,Iowa.</a:t>
            </a:r>
          </a:p>
          <a:p>
            <a:pPr>
              <a:buNone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Objective: 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To accurately predict residential home prices based on a diverse set of features,to predict the sale prices for each house.</a:t>
            </a:r>
          </a:p>
          <a:p>
            <a:pPr>
              <a:buNone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Tools used for Analysis: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Python(Pandas, Numpy, Matplotlib, Seaborn)</a:t>
            </a:r>
          </a:p>
          <a:p>
            <a:pPr>
              <a:buNone/>
            </a:pPr>
            <a:endParaRPr lang="en-US" sz="1800" b="1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Steps Involved: </a:t>
            </a:r>
          </a:p>
          <a:p>
            <a:pPr>
              <a:buClr>
                <a:schemeClr val="tx1"/>
              </a:buClr>
              <a:buFont typeface="Courier New" pitchFamily="49" charset="0"/>
              <a:buChar char="o"/>
            </a:pPr>
            <a:r>
              <a:rPr lang="en-US" sz="1400" dirty="0">
                <a:latin typeface="Arial Rounded MT Bold" pitchFamily="34" charset="0"/>
              </a:rPr>
              <a:t>Exploratory Data Analysis (EDA) - </a:t>
            </a:r>
            <a:r>
              <a:rPr lang="en-US" sz="1400" dirty="0"/>
              <a:t>Handled missing values and outliers ,Visualized data distributions and feature correlations</a:t>
            </a: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1"/>
              </a:buClr>
              <a:buFont typeface="Courier New" pitchFamily="49" charset="0"/>
              <a:buChar char="o"/>
            </a:pPr>
            <a:r>
              <a:rPr lang="en-US" sz="1400" b="1" dirty="0"/>
              <a:t>Data Preprocessing - </a:t>
            </a:r>
            <a:r>
              <a:rPr lang="en-US" sz="1400" dirty="0"/>
              <a:t>Encoded categorical variables, Scaled numerical features,Split data into training and test sets.</a:t>
            </a: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1"/>
              </a:buClr>
              <a:buFont typeface="Courier New" pitchFamily="49" charset="0"/>
              <a:buChar char="o"/>
            </a:pPr>
            <a:r>
              <a:rPr lang="en-US" sz="1400" b="1" dirty="0"/>
              <a:t>Model Building - </a:t>
            </a:r>
            <a:r>
              <a:rPr lang="en-US" sz="1400" dirty="0"/>
              <a:t>Trained various regression models: Linear Regression, Ridge, Lasso, Decision Tree, Random Forest, etc. ,Used cross-validation for model evaluation,Compared performance metrics (MAE, RMSE, R²).</a:t>
            </a:r>
            <a:endParaRPr lang="en-US" sz="1400" b="1" dirty="0"/>
          </a:p>
          <a:p>
            <a:pPr>
              <a:buClr>
                <a:schemeClr val="tx1"/>
              </a:buClr>
              <a:buFont typeface="Courier New" pitchFamily="49" charset="0"/>
              <a:buChar char="o"/>
            </a:pPr>
            <a:r>
              <a:rPr lang="en-US" sz="1400" b="1" dirty="0"/>
              <a:t>Model Evaluation - </a:t>
            </a:r>
            <a:r>
              <a:rPr lang="en-US" sz="1400" dirty="0"/>
              <a:t>Identified the best model based on accuracy and generalization,Visualized actual vs predicted prices</a:t>
            </a:r>
          </a:p>
          <a:p>
            <a:pPr>
              <a:buClr>
                <a:schemeClr val="tx1"/>
              </a:buClr>
              <a:buFont typeface="Courier New" pitchFamily="49" charset="0"/>
              <a:buChar char="o"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pull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8" y="1500174"/>
            <a:ext cx="7572428" cy="4214842"/>
          </a:xfr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1500" dist="25400" dir="5400000" rotWithShape="0">
              <a:srgbClr val="000000">
                <a:alpha val="40000"/>
              </a:srgbClr>
            </a:outerShdw>
            <a:softEdge rad="12700"/>
          </a:effectLst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 Getting  Started</a:t>
            </a:r>
          </a:p>
        </p:txBody>
      </p:sp>
    </p:spTree>
  </p:cSld>
  <p:clrMapOvr>
    <a:masterClrMapping/>
  </p:clrMapOvr>
  <p:transition>
    <p:pull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310" y="524556"/>
            <a:ext cx="5143536" cy="831579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800" b="0" u="sng" dirty="0">
                <a:solidFill>
                  <a:schemeClr val="tx1"/>
                </a:solidFill>
                <a:effectLst/>
              </a:rPr>
              <a:t>Data Loading &amp; Initial Exploration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844" y="1484784"/>
            <a:ext cx="9001156" cy="5230364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2000" b="1" u="sng" dirty="0"/>
              <a:t>Initial Observation </a:t>
            </a:r>
            <a:r>
              <a:rPr lang="en-US" sz="2000" b="1" dirty="0"/>
              <a:t>– 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2000" dirty="0"/>
              <a:t> Presence of various data types (numerical, categorical).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2000" dirty="0"/>
              <a:t> Identification of missing values in several columns.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2000" dirty="0"/>
              <a:t> Wide range in values for numerical features</a:t>
            </a:r>
            <a:r>
              <a:rPr lang="en-US" sz="2000" dirty="0" smtClean="0"/>
              <a:t>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2000" dirty="0" smtClean="0"/>
              <a:t> </a:t>
            </a:r>
            <a:r>
              <a:rPr lang="en-US" sz="2000" dirty="0" smtClean="0"/>
              <a:t>There are no duplicate values present in the dataset.</a:t>
            </a:r>
            <a:endParaRPr lang="en-US" sz="2000" dirty="0"/>
          </a:p>
          <a:p>
            <a:pPr>
              <a:buClr>
                <a:schemeClr val="tx1"/>
              </a:buClr>
            </a:pPr>
            <a:r>
              <a:rPr lang="en-US" sz="2000" b="1" u="sng" dirty="0"/>
              <a:t>Missing values present </a:t>
            </a:r>
            <a:r>
              <a:rPr lang="en-US" sz="2000" b="1" dirty="0"/>
              <a:t> -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2000" b="1" dirty="0"/>
              <a:t>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Train set –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7829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 Test set –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7878</a:t>
            </a:r>
          </a:p>
          <a:p>
            <a:pPr>
              <a:buClr>
                <a:schemeClr val="tx1"/>
              </a:buClr>
            </a:pPr>
            <a:r>
              <a:rPr lang="en-US" sz="1400" dirty="0">
                <a:latin typeface="Arial" pitchFamily="34" charset="0"/>
                <a:cs typeface="Arial" pitchFamily="34" charset="0"/>
              </a:rPr>
              <a:t>Train set:                                                                                  Test set:</a:t>
            </a:r>
          </a:p>
        </p:txBody>
      </p:sp>
      <p:pic>
        <p:nvPicPr>
          <p:cNvPr id="4" name="Picture 3" descr="train 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82" y="4483228"/>
            <a:ext cx="3929090" cy="2042116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90" y="4482590"/>
            <a:ext cx="3786214" cy="2042753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pull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500043"/>
            <a:ext cx="5072098" cy="71437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400" u="sng" dirty="0">
                <a:solidFill>
                  <a:schemeClr val="tx1"/>
                </a:solidFill>
                <a:effectLst/>
              </a:rPr>
              <a:t>Exploratory Data Analysis (EDA)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844" y="1428736"/>
            <a:ext cx="7772400" cy="5214974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600" b="1" dirty="0" smtClean="0"/>
              <a:t> 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Understanding Saleprice :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/>
              <a:t>Sale price is our target variable ,we observed that the distribution of saleprice is slightly right-skewed, we need transformation.</a:t>
            </a:r>
            <a:endParaRPr lang="en-US" sz="1400" dirty="0" smtClean="0"/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Numerical features :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/>
              <a:t> Histograms  and </a:t>
            </a:r>
            <a:r>
              <a:rPr lang="en-US" sz="1600" dirty="0" smtClean="0"/>
              <a:t>KDE plots to visualize distributions.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/>
              <a:t> Identified </a:t>
            </a:r>
            <a:r>
              <a:rPr lang="en-US" sz="1600" dirty="0" smtClean="0"/>
              <a:t>skewed features that might benefit from transformation.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/>
              <a:t> Detected </a:t>
            </a:r>
            <a:r>
              <a:rPr lang="en-US" sz="1600" dirty="0" smtClean="0"/>
              <a:t>potential outliers</a:t>
            </a:r>
            <a:r>
              <a:rPr lang="en-US" sz="1600" dirty="0" smtClean="0"/>
              <a:t>.</a:t>
            </a:r>
            <a:endParaRPr lang="en-US" sz="1600" dirty="0" smtClean="0"/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Visuals :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cs typeface="Arial" pitchFamily="34" charset="0"/>
              </a:rPr>
              <a:t> Histograms /KDE plot of  Saleprice.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cs typeface="Arial" pitchFamily="34" charset="0"/>
              </a:rPr>
              <a:t> </a:t>
            </a:r>
            <a:r>
              <a:rPr lang="en-US" sz="1600" dirty="0" smtClean="0">
                <a:cs typeface="Arial" pitchFamily="34" charset="0"/>
              </a:rPr>
              <a:t>Histograms  of  few  key numerical features.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cs typeface="Arial" pitchFamily="34" charset="0"/>
              </a:rPr>
              <a:t> </a:t>
            </a:r>
            <a:r>
              <a:rPr lang="en-US" sz="1600" dirty="0" smtClean="0">
                <a:cs typeface="Arial" pitchFamily="34" charset="0"/>
              </a:rPr>
              <a:t>Scatterplot of  Saleprice vs. GrLivArea.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Correlation Matrix: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cs typeface="Arial" pitchFamily="34" charset="0"/>
              </a:rPr>
              <a:t> </a:t>
            </a:r>
            <a:r>
              <a:rPr lang="en-US" sz="1600" dirty="0" smtClean="0"/>
              <a:t>Identified </a:t>
            </a:r>
            <a:r>
              <a:rPr lang="en-US" sz="1600" dirty="0" smtClean="0"/>
              <a:t>features highly correlated with SalePrice </a:t>
            </a:r>
            <a:r>
              <a:rPr lang="en-US" sz="1600" dirty="0" smtClean="0"/>
              <a:t>(such as, OverallQual, </a:t>
            </a:r>
            <a:r>
              <a:rPr lang="en-US" sz="1600" dirty="0" smtClean="0"/>
              <a:t>GrLivArea, GarageCars</a:t>
            </a:r>
            <a:r>
              <a:rPr lang="en-US" sz="1600" dirty="0" smtClean="0"/>
              <a:t>).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cs typeface="Arial" pitchFamily="34" charset="0"/>
              </a:rPr>
              <a:t> </a:t>
            </a:r>
            <a:r>
              <a:rPr lang="en-US" sz="1600" dirty="0" smtClean="0"/>
              <a:t>Identified </a:t>
            </a:r>
            <a:r>
              <a:rPr lang="en-US" sz="1600" dirty="0" smtClean="0"/>
              <a:t>highly correlated independent features (potential multicollinearity).</a:t>
            </a:r>
            <a:endParaRPr lang="en-US" sz="1600" dirty="0" smtClean="0">
              <a:cs typeface="Arial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Categorical features: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cs typeface="Arial" pitchFamily="34" charset="0"/>
              </a:rPr>
              <a:t> Used box plots and bar plots </a:t>
            </a:r>
            <a:r>
              <a:rPr lang="en-US" sz="1600" dirty="0" smtClean="0"/>
              <a:t>to understand the relationship between categorical features and SalePrice </a:t>
            </a:r>
            <a:r>
              <a:rPr lang="en-US" sz="1600" dirty="0" smtClean="0"/>
              <a:t>(such as, Neighbourhood </a:t>
            </a:r>
            <a:r>
              <a:rPr lang="en-US" sz="1600" dirty="0" smtClean="0"/>
              <a:t>vs. SalePrice)</a:t>
            </a:r>
            <a:r>
              <a:rPr lang="en-US" sz="1600" dirty="0" smtClean="0">
                <a:cs typeface="Arial" pitchFamily="34" charset="0"/>
              </a:rPr>
              <a:t> .</a:t>
            </a:r>
            <a:endParaRPr lang="en-US" sz="1600" dirty="0" smtClean="0">
              <a:cs typeface="Arial" pitchFamily="34" charset="0"/>
            </a:endParaRPr>
          </a:p>
        </p:txBody>
      </p:sp>
    </p:spTree>
  </p:cSld>
  <p:clrMapOvr>
    <a:masterClrMapping/>
  </p:clrMapOvr>
  <p:transition>
    <p:pull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728"/>
            <a:ext cx="5072098" cy="642942"/>
          </a:xfrm>
        </p:spPr>
        <p:txBody>
          <a:bodyPr>
            <a:normAutofit/>
          </a:bodyPr>
          <a:lstStyle/>
          <a:p>
            <a:r>
              <a:rPr lang="en-US" sz="2000" b="1" u="sng" smtClean="0"/>
              <a:t>Relationships and Correlations (Part 1)</a:t>
            </a:r>
            <a:endParaRPr lang="en-US" sz="20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844" y="857232"/>
            <a:ext cx="4500594" cy="5857916"/>
          </a:xfrm>
        </p:spPr>
        <p:txBody>
          <a:bodyPr/>
          <a:lstStyle/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Saleprice vs OverallQual                      </a:t>
            </a: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1600" dirty="0" smtClean="0">
                <a:latin typeface="Arial" pitchFamily="34" charset="0"/>
                <a:cs typeface="Arial" pitchFamily="34" charset="0"/>
              </a:rPr>
              <a:t>Saleprice vs </a:t>
            </a:r>
            <a:r>
              <a:rPr lang="en-US" sz="1600" dirty="0" err="1" smtClean="0">
                <a:latin typeface="Arial" pitchFamily="34" charset="0"/>
                <a:cs typeface="Arial" pitchFamily="34" charset="0"/>
              </a:rPr>
              <a:t>GarageArea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6" name="Content Placeholder 5" descr="overall.png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0034" y="1214422"/>
            <a:ext cx="3714776" cy="2374012"/>
          </a:xfrm>
          <a:ln>
            <a:solidFill>
              <a:schemeClr val="tx1"/>
            </a:solidFill>
          </a:ln>
        </p:spPr>
      </p:pic>
      <p:pic>
        <p:nvPicPr>
          <p:cNvPr id="7" name="Picture 6" descr="gar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96" y="4143380"/>
            <a:ext cx="3875069" cy="24288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4643438" y="857232"/>
            <a:ext cx="4286280" cy="57150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indent="-256032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Saleprice vs 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TotalBsmtSF</a:t>
            </a:r>
          </a:p>
          <a:p>
            <a:pPr marL="365760" indent="-256032">
              <a:spcBef>
                <a:spcPts val="300"/>
              </a:spcBef>
              <a:buClr>
                <a:schemeClr val="accent3"/>
              </a:buClr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        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Saleprice vs</a:t>
            </a:r>
            <a:r>
              <a:rPr kumimoji="0" lang="en-US" sz="1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1stFlrSF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Tx/>
              <a:buFont typeface="Georgia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0" descr="to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8" y="1285860"/>
            <a:ext cx="3571900" cy="2275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5948" y="4143380"/>
            <a:ext cx="3829456" cy="23854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728"/>
            <a:ext cx="4929190" cy="642942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Relationship and Correlations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844" y="857232"/>
            <a:ext cx="4286280" cy="5857916"/>
          </a:xfrm>
        </p:spPr>
        <p:txBody>
          <a:bodyPr/>
          <a:lstStyle/>
          <a:p>
            <a:r>
              <a:rPr lang="en-US" sz="1600" dirty="0">
                <a:latin typeface="Arial" pitchFamily="34" charset="0"/>
                <a:cs typeface="Arial" pitchFamily="34" charset="0"/>
              </a:rPr>
              <a:t>SalePrice vs MasVnrArea</a:t>
            </a: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  <a:p>
            <a:endParaRPr lang="en-US" sz="1600" dirty="0">
              <a:latin typeface="Arial" pitchFamily="34" charset="0"/>
              <a:cs typeface="Arial" pitchFamily="34" charset="0"/>
            </a:endParaRPr>
          </a:p>
          <a:p>
            <a:r>
              <a:rPr lang="en-US" sz="1600" dirty="0">
                <a:latin typeface="Arial" pitchFamily="34" charset="0"/>
                <a:cs typeface="Arial" pitchFamily="34" charset="0"/>
              </a:rPr>
              <a:t>Saleprice vs GrLivArea</a:t>
            </a:r>
          </a:p>
          <a:p>
            <a:pPr>
              <a:buNone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2" name="Content Placeholder 11" descr="M.png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7158" y="1214422"/>
            <a:ext cx="3890528" cy="2428892"/>
          </a:xfrm>
          <a:ln>
            <a:solidFill>
              <a:schemeClr val="tx1"/>
            </a:solidFill>
          </a:ln>
        </p:spPr>
      </p:pic>
      <p:pic>
        <p:nvPicPr>
          <p:cNvPr id="13" name="Picture 12" descr="G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58" y="4000504"/>
            <a:ext cx="4002312" cy="26432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4429124" y="928670"/>
            <a:ext cx="4572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 SalePrice  vs MasVnrArea and  SalePrice vs GrLivArea</a:t>
            </a:r>
          </a:p>
          <a:p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endParaRPr lang="en-US" sz="16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6" name="Picture 15" descr="Screenshot 2025-06-16 1548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57430"/>
            <a:ext cx="4357718" cy="27860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>
    <p:pull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476673"/>
            <a:ext cx="5220072" cy="809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IN" sz="2800" b="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Preprocessing &amp; Feature Engineering</a:t>
            </a:r>
            <a:endParaRPr lang="en-US" sz="2800" b="0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428736"/>
            <a:ext cx="8928992" cy="5240624"/>
          </a:xfrm>
        </p:spPr>
        <p:txBody>
          <a:bodyPr>
            <a:normAutofit/>
          </a:bodyPr>
          <a:lstStyle/>
          <a:p>
            <a:pPr marL="331470" indent="-285750">
              <a:buClr>
                <a:schemeClr val="tx1"/>
              </a:buClr>
              <a:buFont typeface="Wingdings" pitchFamily="2" charset="2"/>
              <a:buChar char="q"/>
            </a:pPr>
            <a:r>
              <a:rPr lang="en-US" sz="1600" b="1" dirty="0" smtClean="0"/>
              <a:t>Handling Missing Values: </a:t>
            </a:r>
          </a:p>
          <a:p>
            <a:pPr marL="33147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Applied different approaches for different types of missing values.</a:t>
            </a:r>
          </a:p>
          <a:p>
            <a:pPr marL="33147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For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numerical values  imputation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used mean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, median, or 0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and </a:t>
            </a:r>
          </a:p>
          <a:p>
            <a:pPr marL="331470" indent="-285750">
              <a:buClr>
                <a:schemeClr val="tx1"/>
              </a:buClr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   for categorical imputation used mode and ‘None’ or ‘No’.</a:t>
            </a:r>
          </a:p>
          <a:p>
            <a:pPr marL="33147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Dropped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columns with a very high percentage of missing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values</a:t>
            </a:r>
          </a:p>
          <a:p>
            <a:pPr marL="331470" indent="-285750">
              <a:buClr>
                <a:schemeClr val="tx1"/>
              </a:buClr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    (as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they offer little insight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marL="33147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reated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a table ,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summarizing missing value counts 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the imputation </a:t>
            </a: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marL="331470" indent="-285750">
              <a:buClr>
                <a:schemeClr val="tx1"/>
              </a:buClr>
            </a:pP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    strategy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for a few key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columns.</a:t>
            </a:r>
          </a:p>
          <a:p>
            <a:pPr marL="331470" indent="-285750">
              <a:buClr>
                <a:schemeClr val="tx1"/>
              </a:buClr>
            </a:pPr>
            <a:endParaRPr lang="en-US" sz="1400" dirty="0" smtClean="0"/>
          </a:p>
          <a:p>
            <a:pPr marL="331470" indent="-285750">
              <a:buClr>
                <a:schemeClr val="tx1"/>
              </a:buClr>
              <a:buFont typeface="Courier New" pitchFamily="49" charset="0"/>
              <a:buChar char="o"/>
            </a:pPr>
            <a:r>
              <a:rPr lang="en-US" sz="1400" b="1" dirty="0" smtClean="0"/>
              <a:t>Showing an example of visualization of  the relation between the missing values and the dependent variable (Saleprice):</a:t>
            </a:r>
          </a:p>
          <a:p>
            <a:pPr marL="331470" indent="-285750">
              <a:buClr>
                <a:schemeClr val="tx1"/>
              </a:buClr>
            </a:pPr>
            <a:endParaRPr lang="en-US" sz="1400" b="1" dirty="0" smtClean="0"/>
          </a:p>
          <a:p>
            <a:pPr marL="331470" indent="-285750">
              <a:buClr>
                <a:schemeClr val="tx1"/>
              </a:buClr>
            </a:pPr>
            <a:endParaRPr lang="en-US" sz="1400" dirty="0" smtClean="0"/>
          </a:p>
          <a:p>
            <a:pPr marL="331470" indent="-285750">
              <a:buClr>
                <a:schemeClr val="tx1"/>
              </a:buClr>
            </a:pPr>
            <a:endParaRPr lang="en-US" sz="1400" dirty="0" smtClean="0"/>
          </a:p>
          <a:p>
            <a:pPr marL="331470" indent="-285750">
              <a:buClr>
                <a:schemeClr val="tx1"/>
              </a:buClr>
            </a:pPr>
            <a:endParaRPr lang="en-US" sz="1400" dirty="0" smtClean="0"/>
          </a:p>
          <a:p>
            <a:pPr marL="331470" indent="-285750">
              <a:buClr>
                <a:schemeClr val="tx1"/>
              </a:buClr>
            </a:pPr>
            <a:endParaRPr lang="en-US" sz="1400" dirty="0" smtClean="0"/>
          </a:p>
          <a:p>
            <a:pPr marL="331470" indent="-285750">
              <a:buClr>
                <a:schemeClr val="tx1"/>
              </a:buClr>
            </a:pPr>
            <a:endParaRPr lang="en-US" sz="1400" dirty="0" smtClean="0"/>
          </a:p>
        </p:txBody>
      </p:sp>
      <p:pic>
        <p:nvPicPr>
          <p:cNvPr id="4" name="Picture 3" descr="Screenshot 2025-06-17 112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074" y="928670"/>
            <a:ext cx="2786082" cy="26432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Masvn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2" y="4286256"/>
            <a:ext cx="3357586" cy="24148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G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32" y="4286256"/>
            <a:ext cx="3357586" cy="24288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357166"/>
            <a:ext cx="4000528" cy="37623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itchFamily="34" charset="0"/>
                <a:cs typeface="Arial" pitchFamily="34" charset="0"/>
              </a:rPr>
              <a:t>Transforming features: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844" y="785794"/>
            <a:ext cx="8858312" cy="5929354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 smtClean="0"/>
              <a:t> </a:t>
            </a:r>
            <a:r>
              <a:rPr lang="en-US" sz="1800" b="1" u="sng" dirty="0" smtClean="0"/>
              <a:t>Log Transformation :</a:t>
            </a:r>
            <a:endParaRPr lang="en-US" sz="1800" b="1" u="sng" dirty="0" smtClean="0"/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800" dirty="0" smtClean="0"/>
              <a:t>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Applied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np.log1p </a:t>
            </a: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to highly skewed numerical features (including sale price) to achieve a more normal distribution.</a:t>
            </a:r>
            <a:endParaRPr lang="en-US" sz="1800" b="1" u="sng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u="sng" dirty="0" smtClean="0">
                <a:cs typeface="Arial" pitchFamily="34" charset="0"/>
              </a:rPr>
              <a:t>Categorical Encoding: </a:t>
            </a:r>
            <a:endParaRPr lang="en-US" sz="1800" b="1" u="sng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Converted categorical features into numerical format for model imputation.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One-Hot Encoding for creating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binary columns for each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category.</a:t>
            </a:r>
            <a:endParaRPr lang="en-US" sz="1800" b="1" u="sng" dirty="0" smtClean="0">
              <a:cs typeface="Arial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b="1" u="sng" dirty="0" smtClean="0">
                <a:cs typeface="Arial" pitchFamily="34" charset="0"/>
              </a:rPr>
              <a:t> Creating new features: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 Combined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existing features to create more informative ones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(such as,TotalSF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from 1stFlrSF, 2ndFlrSF, BsmtFinSF1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Derived age-related features.</a:t>
            </a:r>
            <a:endParaRPr lang="en-US" sz="1600" b="1" u="sng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b="1" dirty="0" smtClean="0">
                <a:cs typeface="Arial" pitchFamily="34" charset="0"/>
              </a:rPr>
              <a:t> </a:t>
            </a:r>
            <a:r>
              <a:rPr lang="en-US" sz="1800" b="1" u="sng" dirty="0" smtClean="0">
                <a:cs typeface="Arial" pitchFamily="34" charset="0"/>
              </a:rPr>
              <a:t>Visuals :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 H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istograms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of SalePrice (original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vs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log-transformed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 Simple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diagram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illustrating one-hot encoding for a categorical variable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Clr>
                <a:schemeClr val="tx1"/>
              </a:buClr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2" y="4643446"/>
            <a:ext cx="4143404" cy="207170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 txBox="1">
            <a:spLocks/>
          </p:cNvSpPr>
          <p:nvPr/>
        </p:nvSpPr>
        <p:spPr>
          <a:xfrm>
            <a:off x="142844" y="857232"/>
            <a:ext cx="8286808" cy="578647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SalePrice </a:t>
            </a: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–</a:t>
            </a:r>
            <a:r>
              <a:rPr kumimoji="0" lang="en-US" sz="18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1600" dirty="0" smtClean="0"/>
              <a:t>Observed</a:t>
            </a:r>
            <a:r>
              <a:rPr lang="en-US" dirty="0" smtClean="0"/>
              <a:t>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saleprice distribution is often right-skewed , applied log transformation.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Georgia"/>
              <a:buChar char="•"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sale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52" y="1785926"/>
            <a:ext cx="6604046" cy="45720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500042"/>
            <a:ext cx="5000660" cy="428628"/>
          </a:xfr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400" dirty="0" smtClean="0">
                <a:solidFill>
                  <a:schemeClr val="bg1"/>
                </a:solidFill>
                <a:latin typeface="+mn-lt"/>
              </a:rPr>
              <a:t>Building the Predictive Engine</a:t>
            </a: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844" y="1000108"/>
            <a:ext cx="8858312" cy="571504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b="1" u="sng" dirty="0" smtClean="0">
                <a:latin typeface="Arial" pitchFamily="34" charset="0"/>
                <a:cs typeface="Arial" pitchFamily="34" charset="0"/>
              </a:rPr>
              <a:t>Model Training  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Split </a:t>
            </a:r>
            <a:r>
              <a:rPr lang="en-US" sz="1400" dirty="0" smtClean="0"/>
              <a:t>the combined data (train and test) for consistent preprocessing, then </a:t>
            </a:r>
            <a:r>
              <a:rPr lang="en-US" sz="1400" dirty="0" smtClean="0"/>
              <a:t>separated </a:t>
            </a:r>
            <a:r>
              <a:rPr lang="en-US" sz="1400" dirty="0" smtClean="0"/>
              <a:t>back for training and final prediction.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 smtClean="0"/>
              <a:t>Trained </a:t>
            </a:r>
            <a:r>
              <a:rPr lang="en-US" sz="1400" dirty="0" smtClean="0"/>
              <a:t>models on the preprocessed training data</a:t>
            </a:r>
            <a:r>
              <a:rPr lang="en-US" sz="1400" dirty="0" smtClean="0"/>
              <a:t>.</a:t>
            </a: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b="1" u="sng" dirty="0" smtClean="0">
                <a:latin typeface="Arial" pitchFamily="34" charset="0"/>
                <a:cs typeface="Arial" pitchFamily="34" charset="0"/>
              </a:rPr>
              <a:t>Model Evaluation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 smtClean="0"/>
              <a:t>Evaluation </a:t>
            </a:r>
            <a:r>
              <a:rPr lang="en-US" sz="1600" b="1" dirty="0" smtClean="0"/>
              <a:t>Metrics</a:t>
            </a:r>
            <a:r>
              <a:rPr lang="en-US" sz="1600" b="1" dirty="0" smtClean="0"/>
              <a:t>: </a:t>
            </a:r>
            <a:r>
              <a:rPr lang="en-US" sz="1400" dirty="0" smtClean="0"/>
              <a:t>Root Mean Squared Error(RMSE), R-Squared (R2 score)</a:t>
            </a: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b="1" u="sng" dirty="0" smtClean="0"/>
              <a:t>RMSE: </a:t>
            </a:r>
            <a:r>
              <a:rPr lang="en-US" sz="1400" dirty="0" smtClean="0"/>
              <a:t>The </a:t>
            </a:r>
            <a:r>
              <a:rPr lang="en-US" sz="1400" dirty="0" smtClean="0"/>
              <a:t>primary metric for this  </a:t>
            </a:r>
            <a:r>
              <a:rPr lang="en-US" sz="1400" dirty="0" smtClean="0"/>
              <a:t>dataset, represents the </a:t>
            </a:r>
            <a:r>
              <a:rPr lang="en-US" sz="1400" dirty="0" smtClean="0"/>
              <a:t>standard deviation of the residuals (prediction errors). Lower RMSE is better.</a:t>
            </a: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1"/>
              </a:buClr>
              <a:buFont typeface="Arial" pitchFamily="34" charset="0"/>
              <a:buChar char="•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u="sng" dirty="0" smtClean="0">
                <a:latin typeface="Arial" pitchFamily="34" charset="0"/>
                <a:cs typeface="Arial" pitchFamily="34" charset="0"/>
              </a:rPr>
              <a:t>R2-Score:</a:t>
            </a:r>
            <a:r>
              <a:rPr lang="en-US" sz="1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dirty="0" smtClean="0"/>
              <a:t>Indicates the proportion of the variance in the dependent variable that is predictable from the independent variables. Higher R2 is better</a:t>
            </a:r>
            <a:r>
              <a:rPr lang="en-US" sz="1400" dirty="0" smtClean="0"/>
              <a:t>.</a:t>
            </a: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b="1" u="sng" dirty="0" smtClean="0">
                <a:latin typeface="Arial" pitchFamily="34" charset="0"/>
                <a:cs typeface="Arial" pitchFamily="34" charset="0"/>
              </a:rPr>
              <a:t>Result: </a:t>
            </a:r>
            <a:r>
              <a:rPr lang="en-US" sz="1600" dirty="0" smtClean="0"/>
              <a:t>Present the RMSE and R2 scores obtained on the validation/test set.</a:t>
            </a:r>
            <a:endParaRPr lang="en-US" sz="1600" b="1" u="sng" dirty="0" smtClean="0">
              <a:latin typeface="Arial" pitchFamily="34" charset="0"/>
              <a:cs typeface="Arial" pitchFamily="34" charset="0"/>
            </a:endParaRPr>
          </a:p>
          <a:p>
            <a:pPr>
              <a:buClr>
                <a:schemeClr val="tx1"/>
              </a:buClr>
            </a:pPr>
            <a:endParaRPr lang="en-US" sz="1800" b="1" u="sng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np.log1p</a:t>
            </a:r>
            <a:r>
              <a:rPr kumimoji="0" lang="en-US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np.log1p</a:t>
            </a:r>
            <a:r>
              <a:rPr kumimoji="0" lang="en-US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np.log1p</a:t>
            </a:r>
            <a:r>
              <a:rPr kumimoji="0" lang="en-US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np.log1p</a:t>
            </a:r>
            <a:r>
              <a:rPr kumimoji="0" lang="en-US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np.log1p</a:t>
            </a:r>
            <a:r>
              <a:rPr kumimoji="0" lang="en-US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np.log1p</a:t>
            </a:r>
            <a:r>
              <a:rPr kumimoji="0" lang="en-US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np.log1p</a:t>
            </a:r>
            <a:r>
              <a:rPr kumimoji="0" lang="en-US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11" descr="Screenshot 2025-06-17 1337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82" y="4071942"/>
            <a:ext cx="4648849" cy="238158"/>
          </a:xfrm>
          <a:prstGeom prst="rect">
            <a:avLst/>
          </a:prstGeom>
        </p:spPr>
      </p:pic>
      <p:pic>
        <p:nvPicPr>
          <p:cNvPr id="16" name="Picture 15" descr="Screenshot 2025-06-17 1337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57694"/>
            <a:ext cx="4407176" cy="23872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 descr="Screenshot 2025-06-17 1523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58" y="4572008"/>
            <a:ext cx="4040937" cy="1785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 txBox="1">
            <a:spLocks/>
          </p:cNvSpPr>
          <p:nvPr/>
        </p:nvSpPr>
        <p:spPr>
          <a:xfrm>
            <a:off x="142844" y="714356"/>
            <a:ext cx="8286808" cy="592935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Model Selection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Gradient Boosting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kumimoji="0" lang="en-US" sz="1400" b="1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400" b="1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kumimoji="0" lang="en-US" sz="1400" b="1" i="0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1400" b="1" u="sng" dirty="0" smtClean="0">
                <a:latin typeface="Arial" pitchFamily="34" charset="0"/>
                <a:cs typeface="Arial" pitchFamily="34" charset="0"/>
              </a:rPr>
              <a:t>Linear Regression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kumimoji="0" lang="en-US" sz="1400" b="1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kumimoji="0" lang="en-US" sz="1400" b="1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1400" b="1" u="sng" dirty="0" smtClean="0">
                <a:latin typeface="Arial" pitchFamily="34" charset="0"/>
                <a:cs typeface="Arial" pitchFamily="34" charset="0"/>
              </a:rPr>
              <a:t>Ridge Regression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kumimoji="0" lang="en-US" sz="1400" b="1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kumimoji="0" lang="en-US" sz="1400" b="1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1400" b="1" u="sng" dirty="0" smtClean="0">
                <a:latin typeface="Arial" pitchFamily="34" charset="0"/>
                <a:cs typeface="Arial" pitchFamily="34" charset="0"/>
              </a:rPr>
              <a:t>Lasso Regression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1400" b="1" u="sng" dirty="0" smtClean="0">
                <a:latin typeface="Arial" pitchFamily="34" charset="0"/>
                <a:cs typeface="Arial" pitchFamily="34" charset="0"/>
              </a:rPr>
              <a:t>Random Forest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sz="1400" b="1" u="sng" dirty="0" smtClean="0">
              <a:latin typeface="Arial" pitchFamily="34" charset="0"/>
              <a:cs typeface="Arial" pitchFamily="34" charset="0"/>
            </a:endParaRPr>
          </a:p>
          <a:p>
            <a:pPr marL="365760" lvl="0" indent="-256032">
              <a:spcBef>
                <a:spcPts val="300"/>
              </a:spcBef>
              <a:buClr>
                <a:schemeClr val="tx1"/>
              </a:buClr>
            </a:pPr>
            <a:r>
              <a:rPr lang="en-US" sz="1400" u="sng" dirty="0" smtClean="0"/>
              <a:t>Ensemble </a:t>
            </a:r>
            <a:r>
              <a:rPr lang="en-US" sz="1400" u="sng" dirty="0" smtClean="0"/>
              <a:t>methods like Gradient Boosting and Random Forest are effective for this type of </a:t>
            </a:r>
            <a:r>
              <a:rPr lang="en-US" sz="1400" u="sng" dirty="0" smtClean="0"/>
              <a:t>regression</a:t>
            </a:r>
          </a:p>
          <a:p>
            <a:pPr marL="365760" lvl="0" indent="-256032">
              <a:spcBef>
                <a:spcPts val="300"/>
              </a:spcBef>
              <a:buClr>
                <a:schemeClr val="tx1"/>
              </a:buClr>
            </a:pPr>
            <a:r>
              <a:rPr lang="en-US" sz="1400" u="sng" dirty="0" smtClean="0"/>
              <a:t>problem</a:t>
            </a:r>
            <a:r>
              <a:rPr lang="en-US" sz="1400" u="sng" dirty="0" smtClean="0"/>
              <a:t>.</a:t>
            </a:r>
            <a:endParaRPr lang="en-US" sz="1400" u="sng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 descr="Screenshot 2025-06-17 1531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1357298"/>
            <a:ext cx="3600953" cy="771633"/>
          </a:xfrm>
          <a:prstGeom prst="rect">
            <a:avLst/>
          </a:prstGeom>
        </p:spPr>
      </p:pic>
      <p:pic>
        <p:nvPicPr>
          <p:cNvPr id="6" name="Picture 5" descr="Screenshot 2025-06-17 1534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34" y="2357430"/>
            <a:ext cx="3715269" cy="657317"/>
          </a:xfrm>
          <a:prstGeom prst="rect">
            <a:avLst/>
          </a:prstGeom>
        </p:spPr>
      </p:pic>
      <p:pic>
        <p:nvPicPr>
          <p:cNvPr id="7" name="Picture 6" descr="Screenshot 2025-06-17 1535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4" y="3357562"/>
            <a:ext cx="3667637" cy="676369"/>
          </a:xfrm>
          <a:prstGeom prst="rect">
            <a:avLst/>
          </a:prstGeom>
        </p:spPr>
      </p:pic>
      <p:pic>
        <p:nvPicPr>
          <p:cNvPr id="8" name="Picture 7" descr="las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34" y="4429132"/>
            <a:ext cx="3696216" cy="647790"/>
          </a:xfrm>
          <a:prstGeom prst="rect">
            <a:avLst/>
          </a:prstGeom>
        </p:spPr>
      </p:pic>
      <p:pic>
        <p:nvPicPr>
          <p:cNvPr id="9" name="Picture 8" descr="Rand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34" y="5429264"/>
            <a:ext cx="4324954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 txBox="1">
            <a:spLocks/>
          </p:cNvSpPr>
          <p:nvPr/>
        </p:nvSpPr>
        <p:spPr>
          <a:xfrm>
            <a:off x="142844" y="714356"/>
            <a:ext cx="8286808" cy="59293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365760" indent="-256032">
              <a:spcBef>
                <a:spcPts val="300"/>
              </a:spcBef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400" u="sng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The Machine Learning Algorithm that perform the best was GradientBoostRegressor (MAE=0.08,MSE=0.014,R2_Score=0.91,RMSE=0.12</a:t>
            </a:r>
            <a:r>
              <a:rPr lang="en-US" sz="1400" b="1" dirty="0" smtClean="0">
                <a:latin typeface="Arial" pitchFamily="34" charset="0"/>
                <a:cs typeface="Arial" pitchFamily="34" charset="0"/>
              </a:rPr>
              <a:t>)</a:t>
            </a:r>
            <a:endParaRPr lang="en-US" sz="1400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itchFamily="2" charset="2"/>
              <a:buChar char="Ø"/>
              <a:tabLst/>
              <a:defRPr/>
            </a:pPr>
            <a:endParaRPr lang="en-US" sz="1400" u="sng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itchFamily="2" charset="2"/>
              <a:buChar char="Ø"/>
              <a:tabLst/>
              <a:defRPr/>
            </a:pPr>
            <a:endParaRPr lang="en-US" sz="1400" u="sng" dirty="0" smtClean="0">
              <a:latin typeface="Arial" pitchFamily="34" charset="0"/>
              <a:cs typeface="Arial" pitchFamily="34" charset="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itchFamily="2" charset="2"/>
              <a:buChar char="Ø"/>
              <a:tabLst/>
              <a:defRPr/>
            </a:pPr>
            <a:r>
              <a:rPr lang="en-US" b="1" u="sng" dirty="0" smtClean="0">
                <a:latin typeface="Arial" pitchFamily="34" charset="0"/>
                <a:cs typeface="Arial" pitchFamily="34" charset="0"/>
              </a:rPr>
              <a:t>Submission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tx1"/>
              </a:buClr>
              <a:buSzTx/>
              <a:tabLst/>
              <a:defRPr/>
            </a:pPr>
            <a:endParaRPr lang="en-US" b="1" u="sng" dirty="0" smtClean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 descr="Screenshot 2025-06-17 1546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7" y="2500306"/>
            <a:ext cx="2330665" cy="20717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 shadeToTitle="1">
        <a:gradFill flip="none" rotWithShape="1">
          <a:gsLst>
            <a:gs pos="0">
              <a:schemeClr val="bg1">
                <a:lumMod val="95000"/>
              </a:schemeClr>
            </a:gs>
            <a:gs pos="0">
              <a:schemeClr val="bg1">
                <a:lumMod val="95000"/>
              </a:schemeClr>
            </a:gs>
            <a:gs pos="50000">
              <a:srgbClr val="9CB86E"/>
            </a:gs>
            <a:gs pos="100000">
              <a:srgbClr val="156B13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2000248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9600" dirty="0" smtClean="0">
                <a:latin typeface="+mn-lt"/>
              </a:rPr>
              <a:t>Thank you</a:t>
            </a:r>
            <a:endParaRPr lang="en-US" sz="9600" dirty="0">
              <a:latin typeface="+mn-lt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500034" y="3071810"/>
            <a:ext cx="8229600" cy="10715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horz" anchor="ctr">
            <a:no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j-ea"/>
                <a:cs typeface="+mj-cs"/>
              </a:rPr>
              <a:t>Thank you for your time</a:t>
            </a:r>
          </a:p>
          <a:p>
            <a:pPr lvl="0" algn="ctr">
              <a:spcBef>
                <a:spcPct val="0"/>
              </a:spcBef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j-ea"/>
                <a:cs typeface="+mj-cs"/>
              </a:rPr>
              <a:t>Github</a:t>
            </a:r>
            <a:r>
              <a:rPr kumimoji="0" lang="en-US" sz="1600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j-ea"/>
                <a:cs typeface="+mj-cs"/>
              </a:rPr>
              <a:t> </a:t>
            </a:r>
            <a:r>
              <a:rPr lang="en-US" sz="1600" b="1" dirty="0" smtClean="0">
                <a:ea typeface="+mj-ea"/>
                <a:cs typeface="+mj-cs"/>
              </a:rPr>
              <a:t>link: https</a:t>
            </a:r>
            <a:r>
              <a:rPr lang="en-US" sz="1600" b="1" dirty="0" smtClean="0">
                <a:ea typeface="+mj-ea"/>
                <a:cs typeface="+mj-cs"/>
              </a:rPr>
              <a:t>://github.com/UrmesthaMondal/Data_Analysis_projects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630</TotalTime>
  <Words>871</Words>
  <Application>Microsoft Office PowerPoint</Application>
  <PresentationFormat>On-screen Show (4:3)</PresentationFormat>
  <Paragraphs>199</Paragraphs>
  <Slides>15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Urban</vt:lpstr>
      <vt:lpstr>House Price Prediction: An End-to-End Machine Learning Approach</vt:lpstr>
      <vt:lpstr> Table of contents</vt:lpstr>
      <vt:lpstr>Introduction &amp; Problem Statement</vt:lpstr>
      <vt:lpstr> Getting  Started</vt:lpstr>
      <vt:lpstr>Data Loading &amp; Initial Exploration</vt:lpstr>
      <vt:lpstr>Exploratory Data Analysis (EDA)</vt:lpstr>
      <vt:lpstr>Relationships and Correlations (Part 1)</vt:lpstr>
      <vt:lpstr>Relationship and Correlations (Part 2)</vt:lpstr>
      <vt:lpstr>Data Preprocessing &amp; Feature Engineering</vt:lpstr>
      <vt:lpstr>Transforming features:</vt:lpstr>
      <vt:lpstr>Slide 11</vt:lpstr>
      <vt:lpstr>Building the Predictive Engine</vt:lpstr>
      <vt:lpstr>Slide 13</vt:lpstr>
      <vt:lpstr>Slide 14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Prediction: An End-to-End Machine Learning Approach</dc:title>
  <dc:creator>MIMI</dc:creator>
  <cp:lastModifiedBy>MIMI</cp:lastModifiedBy>
  <cp:revision>63</cp:revision>
  <dcterms:created xsi:type="dcterms:W3CDTF">2025-06-16T05:12:09Z</dcterms:created>
  <dcterms:modified xsi:type="dcterms:W3CDTF">2025-06-17T10:34:05Z</dcterms:modified>
</cp:coreProperties>
</file>